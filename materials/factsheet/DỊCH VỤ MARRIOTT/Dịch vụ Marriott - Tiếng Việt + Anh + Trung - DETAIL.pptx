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60"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2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5054DE-ED7C-4959-AA5E-164EA495BAA4}" type="datetimeFigureOut">
              <a:rPr lang="en-US" smtClean="0"/>
              <a:t>24/04/2024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4ABB9-CCD8-4ECB-93D8-17E607CB1F75}" type="slidenum">
              <a:rPr lang="en-US" smtClean="0"/>
              <a:t>‹#›</a:t>
            </a:fld>
            <a:endParaRPr lang="en-US"/>
          </a:p>
        </p:txBody>
      </p:sp>
    </p:spTree>
    <p:extLst>
      <p:ext uri="{BB962C8B-B14F-4D97-AF65-F5344CB8AC3E}">
        <p14:creationId xmlns:p14="http://schemas.microsoft.com/office/powerpoint/2010/main" val="74409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5D3604C-93E8-824A-A8A6-68A02772C9E2}" type="slidenum">
              <a:rPr lang="en-US" smtClean="0"/>
              <a:t>1</a:t>
            </a:fld>
            <a:endParaRPr lang="en-US"/>
          </a:p>
        </p:txBody>
      </p:sp>
    </p:spTree>
    <p:extLst>
      <p:ext uri="{BB962C8B-B14F-4D97-AF65-F5344CB8AC3E}">
        <p14:creationId xmlns:p14="http://schemas.microsoft.com/office/powerpoint/2010/main" val="245355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D3604C-93E8-824A-A8A6-68A02772C9E2}" type="slidenum">
              <a:rPr lang="en-US" smtClean="0"/>
              <a:t>2</a:t>
            </a:fld>
            <a:endParaRPr lang="en-US"/>
          </a:p>
        </p:txBody>
      </p:sp>
    </p:spTree>
    <p:extLst>
      <p:ext uri="{BB962C8B-B14F-4D97-AF65-F5344CB8AC3E}">
        <p14:creationId xmlns:p14="http://schemas.microsoft.com/office/powerpoint/2010/main" val="1373754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10EBB32-96C0-4F27-B653-BBE2646FBB4D}" type="datetimeFigureOut">
              <a:rPr lang="en-US" smtClean="0"/>
              <a:t>24/04/2024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1048358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EBB32-96C0-4F27-B653-BBE2646FBB4D}" type="datetimeFigureOut">
              <a:rPr lang="en-US" smtClean="0"/>
              <a:t>24/04/2024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1094213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10EBB32-96C0-4F27-B653-BBE2646FBB4D}" type="datetimeFigureOut">
              <a:rPr lang="en-US" smtClean="0"/>
              <a:t>24/04/2024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2963294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10EBB32-96C0-4F27-B653-BBE2646FBB4D}" type="datetimeFigureOut">
              <a:rPr lang="en-US" smtClean="0"/>
              <a:t>24/04/2024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1245633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10EBB32-96C0-4F27-B653-BBE2646FBB4D}" type="datetimeFigureOut">
              <a:rPr lang="en-US" smtClean="0"/>
              <a:t>24/04/2024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2113305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10EBB32-96C0-4F27-B653-BBE2646FBB4D}" type="datetimeFigureOut">
              <a:rPr lang="en-US" smtClean="0"/>
              <a:t>24/04/2024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599873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0EBB32-96C0-4F27-B653-BBE2646FBB4D}" type="datetimeFigureOut">
              <a:rPr lang="en-US" smtClean="0"/>
              <a:t>24/04/2024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398550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10EBB32-96C0-4F27-B653-BBE2646FBB4D}" type="datetimeFigureOut">
              <a:rPr lang="en-US" smtClean="0"/>
              <a:t>24/04/2024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419018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10EBB32-96C0-4F27-B653-BBE2646FBB4D}" type="datetimeFigureOut">
              <a:rPr lang="en-US" smtClean="0"/>
              <a:t>24/04/2024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290720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EBB32-96C0-4F27-B653-BBE2646FBB4D}" type="datetimeFigureOut">
              <a:rPr lang="en-US" smtClean="0"/>
              <a:t>24/04/2024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1726544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EBB32-96C0-4F27-B653-BBE2646FBB4D}" type="datetimeFigureOut">
              <a:rPr lang="en-US" smtClean="0"/>
              <a:t>24/04/2024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4CF3D1-B9D5-4B5E-AF43-C94CBCC37E10}" type="slidenum">
              <a:rPr lang="en-US" smtClean="0"/>
              <a:t>‹#›</a:t>
            </a:fld>
            <a:endParaRPr lang="en-US"/>
          </a:p>
        </p:txBody>
      </p:sp>
    </p:spTree>
    <p:extLst>
      <p:ext uri="{BB962C8B-B14F-4D97-AF65-F5344CB8AC3E}">
        <p14:creationId xmlns:p14="http://schemas.microsoft.com/office/powerpoint/2010/main" val="1575846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0EBB32-96C0-4F27-B653-BBE2646FBB4D}" type="datetimeFigureOut">
              <a:rPr lang="en-US" smtClean="0"/>
              <a:t>24/04/2024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4CF3D1-B9D5-4B5E-AF43-C94CBCC37E10}" type="slidenum">
              <a:rPr lang="en-US" smtClean="0"/>
              <a:t>‹#›</a:t>
            </a:fld>
            <a:endParaRPr lang="en-US"/>
          </a:p>
        </p:txBody>
      </p:sp>
    </p:spTree>
    <p:extLst>
      <p:ext uri="{BB962C8B-B14F-4D97-AF65-F5344CB8AC3E}">
        <p14:creationId xmlns:p14="http://schemas.microsoft.com/office/powerpoint/2010/main" val="3965868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4059" t="13317" r="-495" b="29658"/>
          <a:stretch/>
        </p:blipFill>
        <p:spPr>
          <a:xfrm>
            <a:off x="-24680" y="1"/>
            <a:ext cx="12265907" cy="6885384"/>
          </a:xfrm>
          <a:prstGeom prst="rect">
            <a:avLst/>
          </a:prstGeom>
        </p:spPr>
      </p:pic>
      <p:graphicFrame>
        <p:nvGraphicFramePr>
          <p:cNvPr id="5" name="Table 4"/>
          <p:cNvGraphicFramePr>
            <a:graphicFrameLocks noGrp="1"/>
          </p:cNvGraphicFramePr>
          <p:nvPr>
            <p:extLst/>
          </p:nvPr>
        </p:nvGraphicFramePr>
        <p:xfrm>
          <a:off x="299356" y="910574"/>
          <a:ext cx="11629293" cy="5906101"/>
        </p:xfrm>
        <a:graphic>
          <a:graphicData uri="http://schemas.openxmlformats.org/drawingml/2006/table">
            <a:tbl>
              <a:tblPr/>
              <a:tblGrid>
                <a:gridCol w="3032690">
                  <a:extLst>
                    <a:ext uri="{9D8B030D-6E8A-4147-A177-3AD203B41FA5}">
                      <a16:colId xmlns:a16="http://schemas.microsoft.com/office/drawing/2014/main" val="20000"/>
                    </a:ext>
                  </a:extLst>
                </a:gridCol>
                <a:gridCol w="3319244">
                  <a:extLst>
                    <a:ext uri="{9D8B030D-6E8A-4147-A177-3AD203B41FA5}">
                      <a16:colId xmlns:a16="http://schemas.microsoft.com/office/drawing/2014/main" val="20001"/>
                    </a:ext>
                  </a:extLst>
                </a:gridCol>
                <a:gridCol w="3295365">
                  <a:extLst>
                    <a:ext uri="{9D8B030D-6E8A-4147-A177-3AD203B41FA5}">
                      <a16:colId xmlns:a16="http://schemas.microsoft.com/office/drawing/2014/main" val="20002"/>
                    </a:ext>
                  </a:extLst>
                </a:gridCol>
                <a:gridCol w="1981994">
                  <a:extLst>
                    <a:ext uri="{9D8B030D-6E8A-4147-A177-3AD203B41FA5}">
                      <a16:colId xmlns:a16="http://schemas.microsoft.com/office/drawing/2014/main" val="20003"/>
                    </a:ext>
                  </a:extLst>
                </a:gridCol>
              </a:tblGrid>
              <a:tr h="221847">
                <a:tc>
                  <a:txBody>
                    <a:bodyPr/>
                    <a:lstStyle/>
                    <a:p>
                      <a:pPr algn="ctr" fontAlgn="ctr"/>
                      <a:r>
                        <a:rPr lang="en-US" sz="1100" b="1" i="0" u="none" strike="noStrike" dirty="0">
                          <a:solidFill>
                            <a:schemeClr val="bg1"/>
                          </a:solidFill>
                          <a:effectLst/>
                          <a:latin typeface="Baskerville" panose="02020502070401020303" pitchFamily="18" charset="0"/>
                        </a:rPr>
                        <a:t>DỊCH</a:t>
                      </a:r>
                      <a:r>
                        <a:rPr lang="en-US" sz="1100" b="1" i="0" u="none" strike="noStrike" baseline="0" dirty="0">
                          <a:solidFill>
                            <a:schemeClr val="bg1"/>
                          </a:solidFill>
                          <a:effectLst/>
                          <a:latin typeface="Baskerville" panose="02020502070401020303" pitchFamily="18" charset="0"/>
                        </a:rPr>
                        <a:t> VỤ THIẾT YẾU</a:t>
                      </a:r>
                      <a:endParaRPr lang="en-US" sz="1100" b="1" i="0" u="none" strike="noStrike" dirty="0">
                        <a:solidFill>
                          <a:schemeClr val="bg1"/>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66D48"/>
                    </a:solidFill>
                  </a:tcPr>
                </a:tc>
                <a:tc>
                  <a:txBody>
                    <a:bodyPr/>
                    <a:lstStyle/>
                    <a:p>
                      <a:pPr algn="ctr" fontAlgn="t"/>
                      <a:r>
                        <a:rPr lang="en-US" sz="1100" b="1" i="0" u="none" strike="noStrike" dirty="0">
                          <a:solidFill>
                            <a:schemeClr val="bg1"/>
                          </a:solidFill>
                          <a:effectLst/>
                          <a:latin typeface="Baskerville" panose="02020502070401020303" pitchFamily="18" charset="0"/>
                        </a:rPr>
                        <a:t>À LA CARTE* DỊCH</a:t>
                      </a:r>
                      <a:r>
                        <a:rPr lang="en-US" sz="1100" b="1" i="0" u="none" strike="noStrike" baseline="0" dirty="0">
                          <a:solidFill>
                            <a:schemeClr val="bg1"/>
                          </a:solidFill>
                          <a:effectLst/>
                          <a:latin typeface="Baskerville" panose="02020502070401020303" pitchFamily="18" charset="0"/>
                        </a:rPr>
                        <a:t> VỤ CHUNG</a:t>
                      </a:r>
                      <a:endParaRPr lang="en-US" sz="1100" b="1" i="0" u="none" strike="noStrike" dirty="0">
                        <a:solidFill>
                          <a:schemeClr val="bg1"/>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73C"/>
                    </a:solidFill>
                  </a:tcPr>
                </a:tc>
                <a:tc>
                  <a:txBody>
                    <a:bodyPr/>
                    <a:lstStyle/>
                    <a:p>
                      <a:pPr algn="ctr" fontAlgn="t"/>
                      <a:r>
                        <a:rPr lang="fr-FR" sz="1100" b="1" i="0" u="none" strike="noStrike" dirty="0">
                          <a:solidFill>
                            <a:schemeClr val="bg1"/>
                          </a:solidFill>
                          <a:effectLst/>
                          <a:latin typeface="Baskerville" panose="02020502070401020303" pitchFamily="18" charset="0"/>
                        </a:rPr>
                        <a:t>À LA CARTE* DỊCH</a:t>
                      </a:r>
                      <a:r>
                        <a:rPr lang="fr-FR" sz="1100" b="1" i="0" u="none" strike="noStrike" baseline="0" dirty="0">
                          <a:solidFill>
                            <a:schemeClr val="bg1"/>
                          </a:solidFill>
                          <a:effectLst/>
                          <a:latin typeface="Baskerville" panose="02020502070401020303" pitchFamily="18" charset="0"/>
                        </a:rPr>
                        <a:t> VỤ KỸ THUẬT</a:t>
                      </a:r>
                      <a:endParaRPr lang="fr-FR" sz="1100" b="1" i="0" u="none" strike="noStrike" dirty="0">
                        <a:solidFill>
                          <a:schemeClr val="bg1"/>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73C"/>
                    </a:solidFill>
                  </a:tcPr>
                </a:tc>
                <a:tc>
                  <a:txBody>
                    <a:bodyPr/>
                    <a:lstStyle/>
                    <a:p>
                      <a:pPr algn="ctr" fontAlgn="t"/>
                      <a:r>
                        <a:rPr lang="en-US" sz="1100" b="1" i="0" u="none" strike="noStrike" dirty="0">
                          <a:solidFill>
                            <a:schemeClr val="bg1"/>
                          </a:solidFill>
                          <a:effectLst/>
                          <a:latin typeface="Baskerville" panose="02020502070401020303" pitchFamily="18" charset="0"/>
                        </a:rPr>
                        <a:t>TIỆN</a:t>
                      </a:r>
                      <a:r>
                        <a:rPr lang="en-US" sz="1100" b="1" i="0" u="none" strike="noStrike" baseline="0" dirty="0">
                          <a:solidFill>
                            <a:schemeClr val="bg1"/>
                          </a:solidFill>
                          <a:effectLst/>
                          <a:latin typeface="Baskerville" panose="02020502070401020303" pitchFamily="18" charset="0"/>
                        </a:rPr>
                        <a:t> ÍCH</a:t>
                      </a:r>
                      <a:endParaRPr lang="en-US" sz="1100" b="1" i="0" u="none" strike="noStrike" dirty="0">
                        <a:solidFill>
                          <a:schemeClr val="bg1"/>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21847">
                <a:tc>
                  <a:txBody>
                    <a:bodyPr/>
                    <a:lstStyle/>
                    <a:p>
                      <a:pPr algn="ctr" fontAlgn="t"/>
                      <a:r>
                        <a:rPr lang="vi-VN" sz="1100" b="0" i="0" u="none" strike="noStrike" dirty="0">
                          <a:solidFill>
                            <a:srgbClr val="00373D"/>
                          </a:solidFill>
                          <a:effectLst/>
                          <a:latin typeface="Baskerville" panose="02020502070401020303" pitchFamily="18" charset="0"/>
                        </a:rPr>
                        <a:t>Đặt vé máy bay/chuyên cơ riêng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err="1">
                          <a:solidFill>
                            <a:srgbClr val="00373D"/>
                          </a:solidFill>
                          <a:effectLst/>
                          <a:latin typeface="Baskerville" panose="02020502070401020303" pitchFamily="18" charset="0"/>
                        </a:rPr>
                        <a:t>Mua</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sắm</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hàng</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hóa</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Thay bóng đèn / đèn huỳnh quang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Dịch</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vụ</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tiền</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sảnh</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1"/>
                  </a:ext>
                </a:extLst>
              </a:tr>
              <a:tr h="221847">
                <a:tc>
                  <a:txBody>
                    <a:bodyPr/>
                    <a:lstStyle/>
                    <a:p>
                      <a:pPr algn="ctr" fontAlgn="t"/>
                      <a:r>
                        <a:rPr lang="vi-VN" sz="1100" b="0" i="0" u="none" strike="noStrike" dirty="0">
                          <a:solidFill>
                            <a:srgbClr val="00373D"/>
                          </a:solidFill>
                          <a:effectLst/>
                          <a:latin typeface="Baskerville" panose="02020502070401020303" pitchFamily="18" charset="0"/>
                        </a:rPr>
                        <a:t>Sắp xếp đưa đón ra sân bay</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err="1">
                          <a:solidFill>
                            <a:srgbClr val="00373D"/>
                          </a:solidFill>
                          <a:effectLst/>
                          <a:latin typeface="Baskerville" panose="02020502070401020303" pitchFamily="18" charset="0"/>
                        </a:rPr>
                        <a:t>Giặt</a:t>
                      </a:r>
                      <a:r>
                        <a:rPr lang="en-US" sz="1100" b="0" i="0" u="none" strike="noStrike" dirty="0">
                          <a:solidFill>
                            <a:srgbClr val="00373D"/>
                          </a:solidFill>
                          <a:effectLst/>
                          <a:latin typeface="Baskerville" panose="02020502070401020303" pitchFamily="18" charset="0"/>
                        </a:rPr>
                        <a:t> / </a:t>
                      </a:r>
                      <a:r>
                        <a:rPr lang="en-US" sz="1100" b="0" i="0" u="none" strike="noStrike" dirty="0" err="1">
                          <a:solidFill>
                            <a:srgbClr val="00373D"/>
                          </a:solidFill>
                          <a:effectLst/>
                          <a:latin typeface="Baskerville" panose="02020502070401020303" pitchFamily="18" charset="0"/>
                        </a:rPr>
                        <a:t>Giặt</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khô</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Lắp đặt nội thất</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Phòng</a:t>
                      </a:r>
                      <a:r>
                        <a:rPr lang="en-US" sz="1100" b="0" i="0" u="none" strike="noStrike" baseline="0" dirty="0">
                          <a:solidFill>
                            <a:srgbClr val="00373D"/>
                          </a:solidFill>
                          <a:effectLst/>
                          <a:latin typeface="Baskerville" panose="02020502070401020303" pitchFamily="18" charset="0"/>
                        </a:rPr>
                        <a:t> </a:t>
                      </a:r>
                      <a:r>
                        <a:rPr lang="en-US" sz="1100" b="0" i="0" u="none" strike="noStrike" dirty="0">
                          <a:solidFill>
                            <a:srgbClr val="00373D"/>
                          </a:solidFill>
                          <a:effectLst/>
                          <a:latin typeface="Baskerville" panose="02020502070401020303" pitchFamily="18" charset="0"/>
                        </a:rPr>
                        <a:t>Lounge</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Thông</a:t>
                      </a:r>
                      <a:r>
                        <a:rPr lang="en-US" sz="1100" b="0" i="0" u="none" strike="noStrike" dirty="0">
                          <a:solidFill>
                            <a:srgbClr val="00373D"/>
                          </a:solidFill>
                          <a:effectLst/>
                          <a:latin typeface="Baskerville" panose="02020502070401020303" pitchFamily="18" charset="0"/>
                        </a:rPr>
                        <a:t> tin </a:t>
                      </a:r>
                      <a:r>
                        <a:rPr lang="en-US" sz="1100" b="0" i="0" u="none" strike="noStrike" dirty="0" err="1">
                          <a:solidFill>
                            <a:srgbClr val="00373D"/>
                          </a:solidFill>
                          <a:effectLst/>
                          <a:latin typeface="Baskerville" panose="02020502070401020303" pitchFamily="18" charset="0"/>
                        </a:rPr>
                        <a:t>mua</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sắm</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Dịch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vụ</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sửa</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chữa</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quần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áo</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Thu gom rác thải cồng kềnh / rác thải chuyển nhà</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Baskerville" panose="02020502070401020303" pitchFamily="18" charset="0"/>
                        </a:rPr>
                        <a:t>Thư</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viện</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hoa</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trang</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trí</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Rửa xe / </a:t>
                      </a:r>
                      <a:r>
                        <a:rPr lang="en-US" sz="1100" b="0" i="0" u="none" strike="noStrike" dirty="0" err="1">
                          <a:solidFill>
                            <a:srgbClr val="00373D"/>
                          </a:solidFill>
                          <a:effectLst/>
                          <a:latin typeface="Baskerville" panose="02020502070401020303" pitchFamily="18" charset="0"/>
                        </a:rPr>
                        <a:t>Chăm</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sóc</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xe</a:t>
                      </a:r>
                      <a:endParaRPr lang="vi-VN"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vi-VN" sz="1100" b="0" i="0" u="none" strike="noStrike" dirty="0">
                          <a:solidFill>
                            <a:srgbClr val="00373D"/>
                          </a:solidFill>
                          <a:effectLst/>
                          <a:latin typeface="Baskerville" panose="02020502070401020303" pitchFamily="18" charset="0"/>
                        </a:rPr>
                        <a:t>Sơn lại căn hộ</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Phòng</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chiếu</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phim</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21847">
                <a:tc>
                  <a:txBody>
                    <a:bodyPr/>
                    <a:lstStyle/>
                    <a:p>
                      <a:pPr algn="ctr" fontAlgn="t"/>
                      <a:r>
                        <a:rPr lang="en-US" sz="1100" b="0" i="0" u="none" strike="noStrike" dirty="0">
                          <a:solidFill>
                            <a:srgbClr val="00373D"/>
                          </a:solidFill>
                          <a:effectLst/>
                          <a:latin typeface="Baskerville" panose="02020502070401020303" pitchFamily="18" charset="0"/>
                        </a:rPr>
                        <a:t>Thu </a:t>
                      </a:r>
                      <a:r>
                        <a:rPr lang="en-US" sz="1100" b="0" i="0" u="none" strike="noStrike" dirty="0" err="1">
                          <a:solidFill>
                            <a:srgbClr val="00373D"/>
                          </a:solidFill>
                          <a:effectLst/>
                          <a:latin typeface="Baskerville" panose="02020502070401020303" pitchFamily="18" charset="0"/>
                        </a:rPr>
                        <a:t>xếp</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các</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hoạt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động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Hỗ trợ lên kế hoạch du lịch / nghỉ dưỡng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vi-VN" sz="1100" b="0" i="0" u="none" strike="noStrike" dirty="0">
                          <a:solidFill>
                            <a:srgbClr val="00373D"/>
                          </a:solidFill>
                          <a:effectLst/>
                          <a:latin typeface="Baskerville" panose="02020502070401020303" pitchFamily="18" charset="0"/>
                        </a:rPr>
                        <a:t>Kết nối thiết bị điện tử</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Phòng</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họp</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21847">
                <a:tc>
                  <a:txBody>
                    <a:bodyPr/>
                    <a:lstStyle/>
                    <a:p>
                      <a:pPr lvl="0" algn="ctr">
                        <a:buNone/>
                      </a:pPr>
                      <a:r>
                        <a:rPr lang="en-US" sz="1100" b="0" i="0" u="none" strike="noStrike" dirty="0" err="1">
                          <a:solidFill>
                            <a:srgbClr val="00373D"/>
                          </a:solidFill>
                          <a:effectLst/>
                          <a:latin typeface="Baskerville" panose="02020502070401020303" pitchFamily="18" charset="0"/>
                        </a:rPr>
                        <a:t>Điều</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phối</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dịch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vụ</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giao</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hàng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vi-VN" sz="1100" b="0" i="0" u="none" strike="noStrike" dirty="0">
                          <a:solidFill>
                            <a:srgbClr val="00373D"/>
                          </a:solidFill>
                          <a:effectLst/>
                          <a:latin typeface="Baskerville" panose="02020502070401020303" pitchFamily="18" charset="0"/>
                        </a:rPr>
                        <a:t>Cho thuê trang thiết bị</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Treo tranh, ảnh</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Baskerville" panose="02020502070401020303" pitchFamily="18" charset="0"/>
                        </a:rPr>
                        <a:t>Trung </a:t>
                      </a:r>
                      <a:r>
                        <a:rPr lang="en-US" sz="1100" b="0" i="0" u="none" strike="noStrike" dirty="0" err="1">
                          <a:solidFill>
                            <a:srgbClr val="00373D"/>
                          </a:solidFill>
                          <a:effectLst/>
                          <a:latin typeface="Baskerville" panose="02020502070401020303" pitchFamily="18" charset="0"/>
                        </a:rPr>
                        <a:t>tâm</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thể</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hình</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6"/>
                  </a:ext>
                </a:extLst>
              </a:tr>
              <a:tr h="221847">
                <a:tc>
                  <a:txBody>
                    <a:bodyPr/>
                    <a:lstStyle/>
                    <a:p>
                      <a:pPr algn="ctr" fontAlgn="t"/>
                      <a:r>
                        <a:rPr lang="vi-VN" sz="1100" b="0" i="0" u="none" strike="noStrike" dirty="0">
                          <a:solidFill>
                            <a:srgbClr val="00373D"/>
                          </a:solidFill>
                          <a:effectLst/>
                          <a:latin typeface="Baskerville" panose="02020502070401020303" pitchFamily="18" charset="0"/>
                        </a:rPr>
                        <a:t>Đặt thuê xe hơi</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In ấn / Điện tín / Fax</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Sửa chữa hỏng hóc nhỏ về điện &amp; ống nước</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Phòng</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trị</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liệu</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7"/>
                  </a:ext>
                </a:extLst>
              </a:tr>
              <a:tr h="229004">
                <a:tc>
                  <a:txBody>
                    <a:bodyPr/>
                    <a:lstStyle/>
                    <a:p>
                      <a:pPr algn="ctr" fontAlgn="t"/>
                      <a:r>
                        <a:rPr lang="en-US" sz="1100" b="0" i="0" u="none" strike="noStrike" dirty="0" err="1">
                          <a:solidFill>
                            <a:srgbClr val="00373D"/>
                          </a:solidFill>
                          <a:effectLst/>
                          <a:latin typeface="Baskerville" panose="02020502070401020303" pitchFamily="18" charset="0"/>
                        </a:rPr>
                        <a:t>Dịch</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vụ</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văn</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phòng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Dịch vụ Thư ký</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Thay đổi bộ lọc thông gió, điều hòa không khí</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Hồ</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bơi</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8"/>
                  </a:ext>
                </a:extLst>
              </a:tr>
              <a:tr h="229004">
                <a:tc>
                  <a:txBody>
                    <a:bodyPr/>
                    <a:lstStyle/>
                    <a:p>
                      <a:pPr algn="ctr" fontAlgn="t"/>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xe</a:t>
                      </a:r>
                      <a:r>
                        <a:rPr lang="en-US" sz="1100" b="0" i="0" u="none" strike="noStrike" dirty="0">
                          <a:solidFill>
                            <a:srgbClr val="00373D"/>
                          </a:solidFill>
                          <a:effectLst/>
                          <a:latin typeface="Baskerville" panose="02020502070401020303" pitchFamily="18" charset="0"/>
                        </a:rPr>
                        <a:t>/ Limousine </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Lên kế hoạch tổ chức sự kiện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fr-FR" sz="1100" b="1" i="0" u="none" strike="noStrike" dirty="0">
                          <a:solidFill>
                            <a:schemeClr val="bg1"/>
                          </a:solidFill>
                          <a:effectLst/>
                          <a:latin typeface="Baskerville" panose="02020502070401020303" pitchFamily="18" charset="0"/>
                        </a:rPr>
                        <a:t>À LA CARTE* DỊCH</a:t>
                      </a:r>
                      <a:r>
                        <a:rPr lang="fr-FR" sz="1100" b="1" i="0" u="none" strike="noStrike" baseline="0" dirty="0">
                          <a:solidFill>
                            <a:schemeClr val="bg1"/>
                          </a:solidFill>
                          <a:effectLst/>
                          <a:latin typeface="Baskerville" panose="02020502070401020303" pitchFamily="18" charset="0"/>
                        </a:rPr>
                        <a:t> VỤ VỆ SINH CĂN HỘ</a:t>
                      </a:r>
                      <a:endParaRPr lang="fr-FR" sz="1100" b="1" i="0" u="none" strike="noStrike" dirty="0">
                        <a:solidFill>
                          <a:schemeClr val="bg1"/>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73C"/>
                    </a:solidFill>
                  </a:tcPr>
                </a:tc>
                <a:tc>
                  <a:txBody>
                    <a:bodyPr/>
                    <a:lstStyle/>
                    <a:p>
                      <a:pPr algn="ctr" fontAlgn="t"/>
                      <a:r>
                        <a:rPr lang="en-US" sz="1100" b="0" i="0" u="none" strike="noStrike" dirty="0" err="1">
                          <a:solidFill>
                            <a:srgbClr val="00373D"/>
                          </a:solidFill>
                          <a:effectLst/>
                          <a:latin typeface="Baskerville" panose="02020502070401020303" pitchFamily="18" charset="0"/>
                        </a:rPr>
                        <a:t>Phòng</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vui</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chơi</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trẻ</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em</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9"/>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Dịch</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vụ</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dọn</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rác</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Dùng bữa tại phòng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err="1">
                          <a:solidFill>
                            <a:srgbClr val="00373D"/>
                          </a:solidFill>
                          <a:effectLst/>
                          <a:latin typeface="Baskerville" panose="02020502070401020303" pitchFamily="18" charset="0"/>
                        </a:rPr>
                        <a:t>Hút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bụi</a:t>
                      </a:r>
                      <a:r>
                        <a:rPr lang="en-US" sz="1100" b="0" i="0" u="none" strike="noStrike" dirty="0">
                          <a:solidFill>
                            <a:srgbClr val="00373D"/>
                          </a:solidFill>
                          <a:effectLst/>
                          <a:latin typeface="Baskerville" panose="02020502070401020303" pitchFamily="18" charset="0"/>
                        </a:rPr>
                        <a:t> &amp; </a:t>
                      </a:r>
                      <a:r>
                        <a:rPr lang="en-US" sz="1100" b="0" i="0" u="none" strike="noStrike" dirty="0" err="1">
                          <a:solidFill>
                            <a:srgbClr val="00373D"/>
                          </a:solidFill>
                          <a:effectLst/>
                          <a:latin typeface="Baskerville" panose="02020502070401020303" pitchFamily="18" charset="0"/>
                        </a:rPr>
                        <a:t>lau</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sàn</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phòng</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khách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sạn</a:t>
                      </a:r>
                      <a:r>
                        <a:rPr lang="en-US" sz="1100" b="0" i="0" u="none" strike="noStrike" dirty="0">
                          <a:solidFill>
                            <a:srgbClr val="00373D"/>
                          </a:solidFill>
                          <a:effectLst/>
                          <a:latin typeface="Baskerville" panose="02020502070401020303" pitchFamily="18" charset="0"/>
                        </a:rPr>
                        <a:t>+</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vi-VN" sz="1100" b="0" i="0" u="none" strike="noStrike" dirty="0">
                          <a:solidFill>
                            <a:srgbClr val="00373D"/>
                          </a:solidFill>
                          <a:effectLst/>
                          <a:latin typeface="Baskerville" panose="02020502070401020303" pitchFamily="18" charset="0"/>
                        </a:rPr>
                        <a:t>Đóng gói &amp; Vận chuyển thư tín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Baskerville" panose="02020502070401020303" pitchFamily="18" charset="0"/>
                        </a:rPr>
                        <a:t>Lau </a:t>
                      </a:r>
                      <a:r>
                        <a:rPr lang="en-US" sz="1100" b="0" i="0" u="none" strike="noStrike" dirty="0" err="1">
                          <a:solidFill>
                            <a:srgbClr val="00373D"/>
                          </a:solidFill>
                          <a:effectLst/>
                          <a:latin typeface="Baskerville" panose="02020502070401020303" pitchFamily="18" charset="0"/>
                        </a:rPr>
                        <a:t>kính</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chỗ</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tại</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sân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gôn</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Dịch vụ đầu bếp riêng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Vệ</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sinh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bụi</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bẩn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trên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đồ</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nội</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thất</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Thông</a:t>
                      </a:r>
                      <a:r>
                        <a:rPr lang="en-US" sz="1100" b="0" i="0" u="none" strike="noStrike" dirty="0">
                          <a:solidFill>
                            <a:srgbClr val="00373D"/>
                          </a:solidFill>
                          <a:effectLst/>
                          <a:latin typeface="Baskerville" panose="02020502070401020303" pitchFamily="18" charset="0"/>
                        </a:rPr>
                        <a:t> tin/</a:t>
                      </a:r>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bàn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nhà</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hàng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Chăm sóc và bảo dưỡng cây cảnh</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err="1">
                          <a:solidFill>
                            <a:srgbClr val="00373D"/>
                          </a:solidFill>
                          <a:effectLst/>
                          <a:latin typeface="Baskerville" panose="02020502070401020303" pitchFamily="18" charset="0"/>
                        </a:rPr>
                        <a:t>Vệ</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sinh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bếp</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Thông</a:t>
                      </a:r>
                      <a:r>
                        <a:rPr lang="en-US" sz="1100" b="0" i="0" u="none" strike="noStrike" dirty="0">
                          <a:solidFill>
                            <a:srgbClr val="00373D"/>
                          </a:solidFill>
                          <a:effectLst/>
                          <a:latin typeface="Baskerville" panose="02020502070401020303" pitchFamily="18" charset="0"/>
                        </a:rPr>
                        <a:t> tin &amp; </a:t>
                      </a:r>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tour du </a:t>
                      </a:r>
                      <a:r>
                        <a:rPr lang="en-US" sz="1100" b="0" i="0" u="none" strike="noStrike" dirty="0" err="1">
                          <a:solidFill>
                            <a:srgbClr val="00373D"/>
                          </a:solidFill>
                          <a:effectLst/>
                          <a:latin typeface="Baskerville" panose="02020502070401020303" pitchFamily="18" charset="0"/>
                        </a:rPr>
                        <a:t>lịch</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Huấn luyện viên cá nhân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err="1">
                          <a:solidFill>
                            <a:srgbClr val="00373D"/>
                          </a:solidFill>
                          <a:effectLst/>
                          <a:latin typeface="Baskerville" panose="02020502070401020303" pitchFamily="18" charset="0"/>
                        </a:rPr>
                        <a:t>Thay</a:t>
                      </a:r>
                      <a:r>
                        <a:rPr lang="en-US" sz="1100" b="0" i="0" u="none" strike="noStrike" baseline="0" dirty="0">
                          <a:solidFill>
                            <a:srgbClr val="00373D"/>
                          </a:solidFill>
                          <a:effectLst/>
                          <a:latin typeface="Baskerville" panose="02020502070401020303" pitchFamily="18" charset="0"/>
                        </a:rPr>
                        <a:t> </a:t>
                      </a:r>
                      <a:r>
                        <a:rPr lang="vi-VN" sz="1100" b="0" i="0" u="none" strike="noStrike" dirty="0">
                          <a:solidFill>
                            <a:srgbClr val="00373D"/>
                          </a:solidFill>
                          <a:effectLst/>
                          <a:latin typeface="Baskerville" panose="02020502070401020303" pitchFamily="18" charset="0"/>
                        </a:rPr>
                        <a:t>ra trải giường</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Đặt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chỗ</a:t>
                      </a:r>
                      <a:r>
                        <a:rPr lang="en-US" sz="1100" b="0" i="0" u="none" strike="noStrike" dirty="0">
                          <a:solidFill>
                            <a:srgbClr val="00373D"/>
                          </a:solidFill>
                          <a:effectLst/>
                          <a:latin typeface="Baskerville" panose="02020502070401020303" pitchFamily="18" charset="0"/>
                        </a:rPr>
                        <a:t> spa &amp; </a:t>
                      </a:r>
                      <a:r>
                        <a:rPr lang="en-US" sz="1100" b="0" i="0" u="none" strike="noStrike" dirty="0" err="1">
                          <a:solidFill>
                            <a:srgbClr val="00373D"/>
                          </a:solidFill>
                          <a:effectLst/>
                          <a:latin typeface="Baskerville" panose="02020502070401020303" pitchFamily="18" charset="0"/>
                        </a:rPr>
                        <a:t>làm</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đẹp</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Dịch vụ / Liệu pháp spa tại nhà</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vi-VN" sz="1100" b="0" i="0" u="none" strike="noStrike" dirty="0">
                          <a:solidFill>
                            <a:srgbClr val="00373D"/>
                          </a:solidFill>
                          <a:effectLst/>
                          <a:latin typeface="Baskerville" panose="02020502070401020303" pitchFamily="18" charset="0"/>
                        </a:rPr>
                        <a:t>Vệ sinh tủ lạnh</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Thông</a:t>
                      </a:r>
                      <a:r>
                        <a:rPr lang="en-US" sz="1100" b="0" i="0" u="none" strike="noStrike" dirty="0">
                          <a:solidFill>
                            <a:srgbClr val="00373D"/>
                          </a:solidFill>
                          <a:effectLst/>
                          <a:latin typeface="Baskerville" panose="02020502070401020303" pitchFamily="18" charset="0"/>
                        </a:rPr>
                        <a:t> tin </a:t>
                      </a:r>
                      <a:r>
                        <a:rPr lang="en-US" sz="1100" b="0" i="0" u="none" strike="noStrike" dirty="0" err="1">
                          <a:solidFill>
                            <a:srgbClr val="00373D"/>
                          </a:solidFill>
                          <a:effectLst/>
                          <a:latin typeface="Baskerville" panose="02020502070401020303" pitchFamily="18" charset="0"/>
                        </a:rPr>
                        <a:t>dịch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vụ</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Dịch vụ Dịch thuật</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Vệ sinh phòng tắm</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21847">
                <a:tc>
                  <a:txBody>
                    <a:bodyPr/>
                    <a:lstStyle/>
                    <a:p>
                      <a:pPr lvl="0" algn="ctr">
                        <a:buNone/>
                      </a:pPr>
                      <a:r>
                        <a:rPr lang="en-US" sz="1100" b="0" i="0" u="none" strike="noStrike" dirty="0" err="1">
                          <a:solidFill>
                            <a:srgbClr val="00373D"/>
                          </a:solidFill>
                          <a:effectLst/>
                          <a:latin typeface="Baskerville" panose="02020502070401020303" pitchFamily="18" charset="0"/>
                        </a:rPr>
                        <a:t>Điều</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phối</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chuyển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nhà</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Dịch vụ bảo mẫu / chăm sóc trẻ em</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Rửa chén dĩa</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Dịch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vụ</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công</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chứng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Dịch vụ </a:t>
                      </a:r>
                      <a:r>
                        <a:rPr lang="en-US" sz="1100" b="0" i="0" u="none" strike="noStrike" dirty="0" err="1">
                          <a:solidFill>
                            <a:srgbClr val="00373D"/>
                          </a:solidFill>
                          <a:effectLst/>
                          <a:latin typeface="Baskerville" panose="02020502070401020303" pitchFamily="18" charset="0"/>
                        </a:rPr>
                        <a:t>làm</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đẹp</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cho</a:t>
                      </a:r>
                      <a:r>
                        <a:rPr lang="en-US" sz="1100" b="0" i="0" u="none" strike="noStrike" baseline="0" dirty="0">
                          <a:solidFill>
                            <a:srgbClr val="00373D"/>
                          </a:solidFill>
                          <a:effectLst/>
                          <a:latin typeface="Baskerville" panose="02020502070401020303" pitchFamily="18" charset="0"/>
                        </a:rPr>
                        <a:t> </a:t>
                      </a:r>
                      <a:r>
                        <a:rPr lang="vi-VN" sz="1100" b="0" i="0" u="none" strike="noStrike" dirty="0">
                          <a:solidFill>
                            <a:srgbClr val="00373D"/>
                          </a:solidFill>
                          <a:effectLst/>
                          <a:latin typeface="Baskerville" panose="02020502070401020303" pitchFamily="18" charset="0"/>
                        </a:rPr>
                        <a:t>thú cưng </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Vệ sinh ban công</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338455">
                <a:tc>
                  <a:txBody>
                    <a:bodyPr/>
                    <a:lstStyle/>
                    <a:p>
                      <a:pPr algn="ctr" fontAlgn="t"/>
                      <a:r>
                        <a:rPr lang="vi-VN" sz="1100" b="0" i="0" u="none" strike="noStrike" dirty="0">
                          <a:solidFill>
                            <a:srgbClr val="00373D"/>
                          </a:solidFill>
                          <a:effectLst/>
                          <a:latin typeface="Baskerville" panose="02020502070401020303" pitchFamily="18" charset="0"/>
                        </a:rPr>
                        <a:t>Thông tin và Đặt dịch vụ Chăm sóc thú cưng / Giữ thú cưng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vi-VN" sz="1100" b="0" i="0" u="none" strike="noStrike" dirty="0">
                          <a:solidFill>
                            <a:srgbClr val="00373D"/>
                          </a:solidFill>
                          <a:effectLst/>
                          <a:latin typeface="Baskerville" panose="02020502070401020303" pitchFamily="18" charset="0"/>
                        </a:rPr>
                        <a:t>Chăm sóc nhà cửa khi gia chủ đi vắng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Ngăn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ngừa</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tổn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thất</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w="12700" cap="flat" cmpd="sng" algn="ctr">
                      <a:no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20"/>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Thông</a:t>
                      </a:r>
                      <a:r>
                        <a:rPr lang="en-US" sz="1100" b="0" i="0" u="none" strike="noStrike" dirty="0">
                          <a:solidFill>
                            <a:srgbClr val="00373D"/>
                          </a:solidFill>
                          <a:effectLst/>
                          <a:latin typeface="Baskerville" panose="02020502070401020303" pitchFamily="18" charset="0"/>
                        </a:rPr>
                        <a:t> tin </a:t>
                      </a:r>
                      <a:r>
                        <a:rPr lang="en-US" sz="1100" b="0" i="0" u="none" strike="noStrike" dirty="0" err="1">
                          <a:solidFill>
                            <a:srgbClr val="00373D"/>
                          </a:solidFill>
                          <a:effectLst/>
                          <a:latin typeface="Baskerville" panose="02020502070401020303" pitchFamily="18" charset="0"/>
                        </a:rPr>
                        <a:t>giải</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trí</a:t>
                      </a:r>
                      <a:r>
                        <a:rPr lang="en-US" sz="1100" b="0" i="0" u="none" strike="noStrike" dirty="0">
                          <a:solidFill>
                            <a:srgbClr val="00373D"/>
                          </a:solidFill>
                          <a:effectLst/>
                          <a:latin typeface="Baskerville" panose="02020502070401020303" pitchFamily="18" charset="0"/>
                        </a:rPr>
                        <a:t> &amp; </a:t>
                      </a:r>
                      <a:r>
                        <a:rPr lang="en-US" sz="1100" b="0" i="0" u="none" strike="noStrike" dirty="0" err="1">
                          <a:solidFill>
                            <a:srgbClr val="00373D"/>
                          </a:solidFill>
                          <a:effectLst/>
                          <a:latin typeface="Baskerville" panose="02020502070401020303" pitchFamily="18" charset="0"/>
                        </a:rPr>
                        <a:t>rạp</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hát</a:t>
                      </a:r>
                      <a:r>
                        <a:rPr lang="en-US" sz="1100" b="0" i="0" u="none" strike="noStrike" dirty="0">
                          <a:solidFill>
                            <a:srgbClr val="00373D"/>
                          </a:solidFill>
                          <a:effectLst/>
                          <a:latin typeface="Baskerville" panose="02020502070401020303" pitchFamily="18" charset="0"/>
                        </a:rPr>
                        <a:t>/</a:t>
                      </a:r>
                      <a:r>
                        <a:rPr lang="en-US" sz="1100" b="0" i="0" u="none" strike="noStrike" dirty="0" err="1">
                          <a:solidFill>
                            <a:srgbClr val="00373D"/>
                          </a:solidFill>
                          <a:effectLst/>
                          <a:latin typeface="Baskerville" panose="02020502070401020303" pitchFamily="18" charset="0"/>
                        </a:rPr>
                        <a:t>kịch</a:t>
                      </a:r>
                      <a:r>
                        <a:rPr lang="en-US" sz="1100" b="0" i="0" u="none" strike="noStrike" dirty="0">
                          <a:solidFill>
                            <a:srgbClr val="00373D"/>
                          </a:solidFill>
                          <a:effectLst/>
                          <a:latin typeface="Baskerville" panose="02020502070401020303" pitchFamily="18" charset="0"/>
                        </a:rPr>
                        <a:t>/</a:t>
                      </a:r>
                      <a:r>
                        <a:rPr lang="en-US" sz="1100" b="0" i="0" u="none" strike="noStrike" dirty="0" err="1">
                          <a:solidFill>
                            <a:srgbClr val="00373D"/>
                          </a:solidFill>
                          <a:effectLst/>
                          <a:latin typeface="Baskerville" panose="02020502070401020303" pitchFamily="18" charset="0"/>
                        </a:rPr>
                        <a:t>chiếu</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phim</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1"/>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Dịch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vụ</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giữ</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cửa</a:t>
                      </a:r>
                      <a:r>
                        <a:rPr lang="en-US" sz="1100" b="0" i="0" u="none" strike="noStrike" dirty="0">
                          <a:solidFill>
                            <a:srgbClr val="00373D"/>
                          </a:solidFill>
                          <a:effectLst/>
                          <a:latin typeface="Baskerville" panose="02020502070401020303" pitchFamily="18" charset="0"/>
                        </a:rPr>
                        <a:t> / </a:t>
                      </a:r>
                      <a:r>
                        <a:rPr lang="en-US" sz="1100" b="0" i="0" u="none" strike="noStrike" dirty="0" err="1">
                          <a:solidFill>
                            <a:srgbClr val="00373D"/>
                          </a:solidFill>
                          <a:effectLst/>
                          <a:latin typeface="Baskerville" panose="02020502070401020303" pitchFamily="18" charset="0"/>
                        </a:rPr>
                        <a:t>khuân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vác</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hành</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lý</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2"/>
                  </a:ext>
                </a:extLst>
              </a:tr>
              <a:tr h="221847">
                <a:tc>
                  <a:txBody>
                    <a:bodyPr/>
                    <a:lstStyle/>
                    <a:p>
                      <a:pPr algn="ctr" fontAlgn="t"/>
                      <a:r>
                        <a:rPr lang="en-US" sz="1100" b="0" i="0" u="none" strike="noStrike" dirty="0" err="1">
                          <a:solidFill>
                            <a:srgbClr val="00373D"/>
                          </a:solidFill>
                          <a:effectLst/>
                          <a:latin typeface="Baskerville" panose="02020502070401020303" pitchFamily="18" charset="0"/>
                        </a:rPr>
                        <a:t>Vệ</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sinh</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khu</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vực</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chung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3"/>
                  </a:ext>
                </a:extLst>
              </a:tr>
              <a:tr h="221847">
                <a:tc>
                  <a:txBody>
                    <a:bodyPr/>
                    <a:lstStyle/>
                    <a:p>
                      <a:pPr algn="ctr" fontAlgn="t"/>
                      <a:r>
                        <a:rPr lang="en-US" sz="1100" b="0" i="0" u="none" strike="noStrike" dirty="0">
                          <a:solidFill>
                            <a:srgbClr val="00373D"/>
                          </a:solidFill>
                          <a:effectLst/>
                          <a:latin typeface="Baskerville" panose="02020502070401020303" pitchFamily="18" charset="0"/>
                        </a:rPr>
                        <a:t>Bảo</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trì</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khu</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vực</a:t>
                      </a:r>
                      <a:r>
                        <a:rPr lang="en-US" sz="1100" b="0" i="0" u="none" strike="noStrike" baseline="0" dirty="0">
                          <a:solidFill>
                            <a:srgbClr val="00373D"/>
                          </a:solidFill>
                          <a:effectLst/>
                          <a:latin typeface="Baskerville" panose="02020502070401020303" pitchFamily="18" charset="0"/>
                        </a:rPr>
                        <a:t> </a:t>
                      </a:r>
                      <a:r>
                        <a:rPr lang="en-US" sz="1100" b="0" i="0" u="none" strike="noStrike" baseline="0" dirty="0" err="1">
                          <a:solidFill>
                            <a:srgbClr val="00373D"/>
                          </a:solidFill>
                          <a:effectLst/>
                          <a:latin typeface="Baskerville" panose="02020502070401020303" pitchFamily="18" charset="0"/>
                        </a:rPr>
                        <a:t>chung</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4"/>
                  </a:ext>
                </a:extLst>
              </a:tr>
              <a:tr h="229004">
                <a:tc>
                  <a:txBody>
                    <a:bodyPr/>
                    <a:lstStyle/>
                    <a:p>
                      <a:pPr algn="ctr" fontAlgn="t"/>
                      <a:r>
                        <a:rPr lang="en-US" sz="1100" b="0" i="0" u="none" strike="noStrike" dirty="0" err="1">
                          <a:solidFill>
                            <a:srgbClr val="00373D"/>
                          </a:solidFill>
                          <a:effectLst/>
                          <a:latin typeface="Baskerville" panose="02020502070401020303" pitchFamily="18" charset="0"/>
                        </a:rPr>
                        <a:t>Chuyển</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phát</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hàng</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hóa</a:t>
                      </a:r>
                      <a:r>
                        <a:rPr lang="en-US" sz="1100" b="0" i="0" u="none" strike="noStrike" dirty="0">
                          <a:solidFill>
                            <a:srgbClr val="00373D"/>
                          </a:solidFill>
                          <a:effectLst/>
                          <a:latin typeface="Baskerville" panose="02020502070401020303" pitchFamily="18" charset="0"/>
                        </a:rPr>
                        <a:t> / </a:t>
                      </a:r>
                      <a:r>
                        <a:rPr lang="en-US" sz="1100" b="0" i="0" u="none" strike="noStrike" dirty="0" err="1">
                          <a:solidFill>
                            <a:srgbClr val="00373D"/>
                          </a:solidFill>
                          <a:effectLst/>
                          <a:latin typeface="Baskerville" panose="02020502070401020303" pitchFamily="18" charset="0"/>
                        </a:rPr>
                        <a:t>Báo</a:t>
                      </a:r>
                      <a:r>
                        <a:rPr lang="en-US" sz="1100" b="0" i="0" u="none" strike="noStrike" dirty="0">
                          <a:solidFill>
                            <a:srgbClr val="00373D"/>
                          </a:solidFill>
                          <a:effectLst/>
                          <a:latin typeface="Baskerville" panose="02020502070401020303" pitchFamily="18" charset="0"/>
                        </a:rPr>
                        <a:t> / </a:t>
                      </a:r>
                      <a:r>
                        <a:rPr lang="en-US" sz="1100" b="0" i="0" u="none" strike="noStrike" dirty="0" err="1">
                          <a:solidFill>
                            <a:srgbClr val="00373D"/>
                          </a:solidFill>
                          <a:effectLst/>
                          <a:latin typeface="Baskerville" panose="02020502070401020303" pitchFamily="18" charset="0"/>
                        </a:rPr>
                        <a:t>Tạp</a:t>
                      </a:r>
                      <a:r>
                        <a:rPr lang="en-US" sz="1100" b="0" i="0" u="none" strike="noStrike" dirty="0">
                          <a:solidFill>
                            <a:srgbClr val="00373D"/>
                          </a:solidFill>
                          <a:effectLst/>
                          <a:latin typeface="Baskerville" panose="02020502070401020303" pitchFamily="18" charset="0"/>
                        </a:rPr>
                        <a:t> </a:t>
                      </a:r>
                      <a:r>
                        <a:rPr lang="en-US" sz="1100" b="0" i="0" u="none" strike="noStrike" dirty="0" err="1">
                          <a:solidFill>
                            <a:srgbClr val="00373D"/>
                          </a:solidFill>
                          <a:effectLst/>
                          <a:latin typeface="Baskerville" panose="02020502070401020303" pitchFamily="18" charset="0"/>
                        </a:rPr>
                        <a:t>chí</a:t>
                      </a:r>
                      <a:endParaRPr lang="en-US" sz="1100" b="0" i="0" u="none" strike="noStrike" dirty="0">
                        <a:solidFill>
                          <a:srgbClr val="00373D"/>
                        </a:solidFill>
                        <a:effectLst/>
                        <a:latin typeface="Baskerville" panose="02020502070401020303" pitchFamily="18"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Baskerville" panose="02020502070401020303" pitchFamily="18"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5"/>
                  </a:ext>
                </a:extLst>
              </a:tr>
            </a:tbl>
          </a:graphicData>
        </a:graphic>
      </p:graphicFrame>
      <p:sp>
        <p:nvSpPr>
          <p:cNvPr id="6" name="object 8"/>
          <p:cNvSpPr txBox="1"/>
          <p:nvPr/>
        </p:nvSpPr>
        <p:spPr>
          <a:xfrm>
            <a:off x="3443977" y="58982"/>
            <a:ext cx="5328592" cy="795088"/>
          </a:xfrm>
          <a:prstGeom prst="rect">
            <a:avLst/>
          </a:prstGeom>
        </p:spPr>
        <p:txBody>
          <a:bodyPr vert="horz" wrap="square" lIns="0" tIns="12699" rIns="0" bIns="0" rtlCol="0">
            <a:spAutoFit/>
          </a:bodyPr>
          <a:lstStyle/>
          <a:p>
            <a:pPr marL="12700" algn="ctr" defTabSz="914355">
              <a:spcBef>
                <a:spcPts val="100"/>
              </a:spcBef>
            </a:pPr>
            <a:r>
              <a:rPr lang="en-US" sz="2500" b="1" spc="-85" dirty="0" smtClean="0">
                <a:solidFill>
                  <a:srgbClr val="00373C"/>
                </a:solidFill>
                <a:latin typeface="Baskerville" panose="02020502070401020303" pitchFamily="18" charset="0"/>
                <a:cs typeface="Arial"/>
              </a:rPr>
              <a:t>ĐẶC QUYỀN GIÀNH CHO CHỦ NHÂN</a:t>
            </a:r>
          </a:p>
          <a:p>
            <a:pPr marL="12700" algn="ctr" defTabSz="914355">
              <a:spcBef>
                <a:spcPts val="100"/>
              </a:spcBef>
            </a:pPr>
            <a:r>
              <a:rPr lang="en-US" sz="2500" b="1" spc="-85" dirty="0" smtClean="0">
                <a:solidFill>
                  <a:srgbClr val="00373C"/>
                </a:solidFill>
                <a:latin typeface="Baskerville" panose="02020502070401020303" pitchFamily="18" charset="0"/>
                <a:cs typeface="Arial"/>
              </a:rPr>
              <a:t>GRAND MARINA, SAIGON</a:t>
            </a:r>
            <a:endParaRPr sz="2500" b="1" dirty="0">
              <a:solidFill>
                <a:srgbClr val="00373C"/>
              </a:solidFill>
              <a:latin typeface="Baskerville" panose="02020502070401020303" pitchFamily="18" charset="0"/>
              <a:cs typeface="Arial"/>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575" y="-16532"/>
            <a:ext cx="1872424" cy="814098"/>
          </a:xfrm>
          <a:prstGeom prst="rect">
            <a:avLst/>
          </a:prstGeom>
        </p:spPr>
      </p:pic>
      <p:sp>
        <p:nvSpPr>
          <p:cNvPr id="27" name="Rectangle 26"/>
          <p:cNvSpPr/>
          <p:nvPr/>
        </p:nvSpPr>
        <p:spPr>
          <a:xfrm>
            <a:off x="3457597" y="5841268"/>
            <a:ext cx="6548552" cy="338554"/>
          </a:xfrm>
          <a:prstGeom prst="rect">
            <a:avLst/>
          </a:prstGeom>
        </p:spPr>
        <p:txBody>
          <a:bodyPr wrap="square">
            <a:spAutoFit/>
          </a:bodyPr>
          <a:lstStyle/>
          <a:p>
            <a:r>
              <a:rPr lang="en-US" sz="1600" b="1" dirty="0">
                <a:solidFill>
                  <a:schemeClr val="bg1"/>
                </a:solidFill>
                <a:latin typeface="Baskerville" panose="02020502070401020303" pitchFamily="18" charset="0"/>
              </a:rPr>
              <a:t>MỖI NGƯỜI LÀ DUY NHẤT, NÊN TRẢI NGHIỆM SẼ KHÁC BIỆT</a:t>
            </a:r>
          </a:p>
        </p:txBody>
      </p:sp>
      <p:sp>
        <p:nvSpPr>
          <p:cNvPr id="9" name="Rectangle 8"/>
          <p:cNvSpPr/>
          <p:nvPr/>
        </p:nvSpPr>
        <p:spPr>
          <a:xfrm>
            <a:off x="3493601" y="6167659"/>
            <a:ext cx="8363039" cy="646331"/>
          </a:xfrm>
          <a:prstGeom prst="rect">
            <a:avLst/>
          </a:prstGeom>
          <a:noFill/>
        </p:spPr>
        <p:txBody>
          <a:bodyPr wrap="square">
            <a:spAutoFit/>
          </a:bodyPr>
          <a:lstStyle/>
          <a:p>
            <a:pPr algn="just"/>
            <a:r>
              <a:rPr lang="vi-VN" sz="1200" dirty="0">
                <a:solidFill>
                  <a:schemeClr val="bg1"/>
                </a:solidFill>
                <a:latin typeface="Baskerville" panose="02020502070401020303" pitchFamily="18" charset="0"/>
              </a:rPr>
              <a:t>Tại dự án Grand Marina, Saigon, mỗi tòa sẽ có đặc tính riêng và cũng mang lại tính chất khác biệt cho các dịch vụ và tiện ích của chúng. Dịch vụ nổi bật của chúng tôi được tinh chỉnh sao cho phù hợp với nhu cầu và mong </a:t>
            </a:r>
            <a:r>
              <a:rPr lang="en-US" sz="1200" dirty="0" err="1">
                <a:solidFill>
                  <a:schemeClr val="bg1"/>
                </a:solidFill>
                <a:latin typeface="Baskerville" panose="02020502070401020303" pitchFamily="18" charset="0"/>
              </a:rPr>
              <a:t>đợi</a:t>
            </a:r>
            <a:r>
              <a:rPr lang="vi-VN" sz="1200" dirty="0">
                <a:solidFill>
                  <a:schemeClr val="bg1"/>
                </a:solidFill>
                <a:latin typeface="Baskerville" panose="02020502070401020303" pitchFamily="18" charset="0"/>
              </a:rPr>
              <a:t> </a:t>
            </a:r>
            <a:r>
              <a:rPr lang="en-US" sz="1200" dirty="0" err="1">
                <a:solidFill>
                  <a:schemeClr val="bg1"/>
                </a:solidFill>
                <a:latin typeface="Baskerville" panose="02020502070401020303" pitchFamily="18" charset="0"/>
              </a:rPr>
              <a:t>trong</a:t>
            </a:r>
            <a:r>
              <a:rPr lang="en-US" sz="1200" dirty="0">
                <a:solidFill>
                  <a:schemeClr val="bg1"/>
                </a:solidFill>
                <a:latin typeface="Baskerville" panose="02020502070401020303" pitchFamily="18" charset="0"/>
              </a:rPr>
              <a:t> </a:t>
            </a:r>
            <a:r>
              <a:rPr lang="en-US" sz="1200" dirty="0" err="1">
                <a:solidFill>
                  <a:schemeClr val="bg1"/>
                </a:solidFill>
                <a:latin typeface="Baskerville" panose="02020502070401020303" pitchFamily="18" charset="0"/>
              </a:rPr>
              <a:t>các</a:t>
            </a:r>
            <a:r>
              <a:rPr lang="vi-VN" sz="1200" dirty="0">
                <a:solidFill>
                  <a:schemeClr val="bg1"/>
                </a:solidFill>
                <a:latin typeface="Baskerville" panose="02020502070401020303" pitchFamily="18" charset="0"/>
              </a:rPr>
              <a:t> dòng sản phẩm cao cấp </a:t>
            </a:r>
            <a:r>
              <a:rPr lang="en-US" sz="1200" dirty="0" err="1">
                <a:solidFill>
                  <a:schemeClr val="bg1"/>
                </a:solidFill>
                <a:latin typeface="Baskerville" panose="02020502070401020303" pitchFamily="18" charset="0"/>
              </a:rPr>
              <a:t>thuộc</a:t>
            </a:r>
            <a:r>
              <a:rPr lang="vi-VN" sz="1200" dirty="0">
                <a:solidFill>
                  <a:schemeClr val="bg1"/>
                </a:solidFill>
                <a:latin typeface="Baskerville" panose="02020502070401020303" pitchFamily="18" charset="0"/>
              </a:rPr>
              <a:t> từng phân khúc khác nhau và đảm bảo sẽ tạo nên bất ngờ cho các cư dân khi trải nghiệm sản phẩm.</a:t>
            </a:r>
            <a:endParaRPr lang="en-US" sz="1200" dirty="0">
              <a:solidFill>
                <a:schemeClr val="bg1"/>
              </a:solidFill>
              <a:latin typeface="Baskerville" panose="02020502070401020303" pitchFamily="18" charset="0"/>
              <a:ea typeface="Open Sans" panose="020B0606030504020204" pitchFamily="34" charset="0"/>
              <a:cs typeface="Open Sans" panose="020B0606030504020204" pitchFamily="34" charset="0"/>
            </a:endParaRPr>
          </a:p>
        </p:txBody>
      </p:sp>
      <p:sp>
        <p:nvSpPr>
          <p:cNvPr id="40" name="Rectangle 39"/>
          <p:cNvSpPr/>
          <p:nvPr/>
        </p:nvSpPr>
        <p:spPr>
          <a:xfrm>
            <a:off x="3467708" y="5495042"/>
            <a:ext cx="2550188" cy="346227"/>
          </a:xfrm>
          <a:prstGeom prst="rect">
            <a:avLst/>
          </a:prstGeom>
          <a:solidFill>
            <a:schemeClr val="accent6">
              <a:lumMod val="75000"/>
            </a:schemeClr>
          </a:solidFill>
          <a:ln>
            <a:solidFill>
              <a:srgbClr val="0037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0373C"/>
                </a:solidFill>
                <a:latin typeface="Baskerville" panose="02020502070401020303" pitchFamily="18" charset="0"/>
              </a:rPr>
              <a:t>**Lưu ý: </a:t>
            </a:r>
            <a:r>
              <a:rPr lang="en-US" sz="700" dirty="0" err="1">
                <a:solidFill>
                  <a:srgbClr val="00373C"/>
                </a:solidFill>
                <a:latin typeface="Baskerville" panose="02020502070401020303" pitchFamily="18" charset="0"/>
              </a:rPr>
              <a:t>Các</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thương</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hiệu</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khác</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nhau</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cung</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cấp</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các</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dịch</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vụ</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khác</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nhau</a:t>
            </a:r>
            <a:endParaRPr lang="en-US" sz="700" dirty="0">
              <a:solidFill>
                <a:srgbClr val="00373C"/>
              </a:solidFill>
              <a:latin typeface="Baskerville" panose="02020502070401020303" pitchFamily="18" charset="0"/>
            </a:endParaRPr>
          </a:p>
        </p:txBody>
      </p:sp>
      <p:sp>
        <p:nvSpPr>
          <p:cNvPr id="44" name="Rectangle 43"/>
          <p:cNvSpPr/>
          <p:nvPr/>
        </p:nvSpPr>
        <p:spPr>
          <a:xfrm>
            <a:off x="6096000" y="5495042"/>
            <a:ext cx="2772308" cy="346227"/>
          </a:xfrm>
          <a:prstGeom prst="rect">
            <a:avLst/>
          </a:prstGeom>
          <a:solidFill>
            <a:schemeClr val="bg1"/>
          </a:solidFill>
          <a:ln>
            <a:solidFill>
              <a:srgbClr val="0037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0373C"/>
                </a:solidFill>
                <a:latin typeface="Baskerville" panose="02020502070401020303" pitchFamily="18" charset="0"/>
              </a:rPr>
              <a:t>**Lưu ý: </a:t>
            </a:r>
            <a:r>
              <a:rPr lang="en-US" sz="700" dirty="0" err="1">
                <a:solidFill>
                  <a:srgbClr val="00373C"/>
                </a:solidFill>
                <a:latin typeface="Baskerville" panose="02020502070401020303" pitchFamily="18" charset="0"/>
              </a:rPr>
              <a:t>Dịch</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vụ</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chung</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cho</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mọi</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thương</a:t>
            </a:r>
            <a:r>
              <a:rPr lang="en-US" sz="700" dirty="0">
                <a:solidFill>
                  <a:srgbClr val="00373C"/>
                </a:solidFill>
                <a:latin typeface="Baskerville" panose="02020502070401020303" pitchFamily="18" charset="0"/>
              </a:rPr>
              <a:t> </a:t>
            </a:r>
            <a:r>
              <a:rPr lang="en-US" sz="700" dirty="0" err="1">
                <a:solidFill>
                  <a:srgbClr val="00373C"/>
                </a:solidFill>
                <a:latin typeface="Baskerville" panose="02020502070401020303" pitchFamily="18" charset="0"/>
              </a:rPr>
              <a:t>hiệu</a:t>
            </a:r>
            <a:endParaRPr lang="en-US" sz="700" dirty="0">
              <a:solidFill>
                <a:srgbClr val="00373C"/>
              </a:solidFill>
              <a:latin typeface="Baskerville" panose="02020502070401020303" pitchFamily="18" charset="0"/>
            </a:endParaRPr>
          </a:p>
        </p:txBody>
      </p:sp>
    </p:spTree>
    <p:extLst>
      <p:ext uri="{BB962C8B-B14F-4D97-AF65-F5344CB8AC3E}">
        <p14:creationId xmlns:p14="http://schemas.microsoft.com/office/powerpoint/2010/main" val="82516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4059" t="13317" r="-495" b="29658"/>
          <a:stretch/>
        </p:blipFill>
        <p:spPr>
          <a:xfrm>
            <a:off x="-24680" y="1"/>
            <a:ext cx="12265907" cy="6885384"/>
          </a:xfrm>
          <a:prstGeom prst="rect">
            <a:avLst/>
          </a:prstGeom>
        </p:spPr>
      </p:pic>
      <p:graphicFrame>
        <p:nvGraphicFramePr>
          <p:cNvPr id="5" name="Table 4"/>
          <p:cNvGraphicFramePr>
            <a:graphicFrameLocks noGrp="1"/>
          </p:cNvGraphicFramePr>
          <p:nvPr>
            <p:extLst/>
          </p:nvPr>
        </p:nvGraphicFramePr>
        <p:xfrm>
          <a:off x="299356" y="910574"/>
          <a:ext cx="11629293" cy="5796650"/>
        </p:xfrm>
        <a:graphic>
          <a:graphicData uri="http://schemas.openxmlformats.org/drawingml/2006/table">
            <a:tbl>
              <a:tblPr/>
              <a:tblGrid>
                <a:gridCol w="3032690">
                  <a:extLst>
                    <a:ext uri="{9D8B030D-6E8A-4147-A177-3AD203B41FA5}">
                      <a16:colId xmlns:a16="http://schemas.microsoft.com/office/drawing/2014/main" val="20000"/>
                    </a:ext>
                  </a:extLst>
                </a:gridCol>
                <a:gridCol w="3319244">
                  <a:extLst>
                    <a:ext uri="{9D8B030D-6E8A-4147-A177-3AD203B41FA5}">
                      <a16:colId xmlns:a16="http://schemas.microsoft.com/office/drawing/2014/main" val="20001"/>
                    </a:ext>
                  </a:extLst>
                </a:gridCol>
                <a:gridCol w="3295365">
                  <a:extLst>
                    <a:ext uri="{9D8B030D-6E8A-4147-A177-3AD203B41FA5}">
                      <a16:colId xmlns:a16="http://schemas.microsoft.com/office/drawing/2014/main" val="20002"/>
                    </a:ext>
                  </a:extLst>
                </a:gridCol>
                <a:gridCol w="1981994">
                  <a:extLst>
                    <a:ext uri="{9D8B030D-6E8A-4147-A177-3AD203B41FA5}">
                      <a16:colId xmlns:a16="http://schemas.microsoft.com/office/drawing/2014/main" val="20003"/>
                    </a:ext>
                  </a:extLst>
                </a:gridCol>
              </a:tblGrid>
              <a:tr h="221847">
                <a:tc>
                  <a:txBody>
                    <a:bodyPr/>
                    <a:lstStyle/>
                    <a:p>
                      <a:pPr algn="ctr" fontAlgn="ctr"/>
                      <a:r>
                        <a:rPr lang="en-US" sz="1100" b="1" i="0" u="none" strike="noStrike" dirty="0">
                          <a:solidFill>
                            <a:schemeClr val="bg1"/>
                          </a:solidFill>
                          <a:effectLst/>
                          <a:latin typeface="Century Gothic" panose="020B0502020202020204" pitchFamily="34" charset="0"/>
                        </a:rPr>
                        <a:t>ESSENTIAL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66D48"/>
                    </a:solidFill>
                  </a:tcPr>
                </a:tc>
                <a:tc>
                  <a:txBody>
                    <a:bodyPr/>
                    <a:lstStyle/>
                    <a:p>
                      <a:pPr algn="ctr" fontAlgn="t"/>
                      <a:r>
                        <a:rPr lang="en-US" sz="1100" b="1" i="0" u="none" strike="noStrike" dirty="0">
                          <a:solidFill>
                            <a:schemeClr val="bg1"/>
                          </a:solidFill>
                          <a:effectLst/>
                          <a:latin typeface="Century Gothic" panose="020B0502020202020204" pitchFamily="34" charset="0"/>
                        </a:rPr>
                        <a:t>À LA CARTE* GENERAL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73C"/>
                    </a:solidFill>
                  </a:tcPr>
                </a:tc>
                <a:tc>
                  <a:txBody>
                    <a:bodyPr/>
                    <a:lstStyle/>
                    <a:p>
                      <a:pPr algn="ctr" fontAlgn="t"/>
                      <a:r>
                        <a:rPr lang="fr-FR" sz="1100" b="1" i="0" u="none" strike="noStrike" dirty="0">
                          <a:solidFill>
                            <a:schemeClr val="bg1"/>
                          </a:solidFill>
                          <a:effectLst/>
                          <a:latin typeface="Century Gothic" panose="020B0502020202020204" pitchFamily="34" charset="0"/>
                        </a:rPr>
                        <a:t>À LA CARTE* ENGINEERING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73C"/>
                    </a:solidFill>
                  </a:tcPr>
                </a:tc>
                <a:tc>
                  <a:txBody>
                    <a:bodyPr/>
                    <a:lstStyle/>
                    <a:p>
                      <a:pPr algn="ctr" fontAlgn="t"/>
                      <a:r>
                        <a:rPr lang="en-US" sz="1100" b="1" i="0" u="none" strike="noStrike" dirty="0">
                          <a:solidFill>
                            <a:schemeClr val="bg1"/>
                          </a:solidFill>
                          <a:effectLst/>
                          <a:latin typeface="Century Gothic" panose="020B0502020202020204" pitchFamily="34" charset="0"/>
                        </a:rPr>
                        <a:t>AMMENITIES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Airline/Private Air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Grocery Shopping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smtClean="0">
                          <a:solidFill>
                            <a:srgbClr val="00373D"/>
                          </a:solidFill>
                          <a:effectLst/>
                          <a:latin typeface="Century Gothic" panose="020B0502020202020204" pitchFamily="34" charset="0"/>
                        </a:rPr>
                        <a:t>Light Bulb/Florescent Tube Replacement</a:t>
                      </a:r>
                      <a:endParaRPr lang="en-US" sz="1100" b="0" i="0" u="none" strike="noStrike" dirty="0">
                        <a:solidFill>
                          <a:srgbClr val="00373D"/>
                        </a:solidFill>
                        <a:effectLst/>
                        <a:latin typeface="Century Gothic" panose="020B0502020202020204" pitchFamily="34" charset="0"/>
                      </a:endParaRP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Lobby Service</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1"/>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Airport Transfer Arrangements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Laundry/Dry Cleaning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Furniture Assembly</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Lounge</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Shopping Information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Alterations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Bulk/Move-in Trash Removal</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Library</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Ordering Floral Arrangements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Car Washing/Detailing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Touch-Up Painting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Cinema</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Activity Arrangements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Travel &amp; Vacation Planning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Electronics Hook-Up</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Meeting Room</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Coordinate Delivery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Equipment Rental</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Picture Hanging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Fitness Centre</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6"/>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Automobile Rental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Photocopies/Telegrams/Facsimiles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Minor Electrical &amp; Plumbing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Treatment Rooms</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7"/>
                  </a:ext>
                </a:extLst>
              </a:tr>
              <a:tr h="229004">
                <a:tc>
                  <a:txBody>
                    <a:bodyPr/>
                    <a:lstStyle/>
                    <a:p>
                      <a:pPr algn="ctr" fontAlgn="t"/>
                      <a:r>
                        <a:rPr lang="en-US" sz="1100" b="0" i="0" u="none" strike="noStrike" dirty="0">
                          <a:solidFill>
                            <a:srgbClr val="00373D"/>
                          </a:solidFill>
                          <a:effectLst/>
                          <a:latin typeface="Century Gothic" panose="020B0502020202020204" pitchFamily="34" charset="0"/>
                        </a:rPr>
                        <a:t>Business Center</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Secretarial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HVAC Filter Change</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Pool</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8"/>
                  </a:ext>
                </a:extLst>
              </a:tr>
              <a:tr h="229004">
                <a:tc>
                  <a:txBody>
                    <a:bodyPr/>
                    <a:lstStyle/>
                    <a:p>
                      <a:pPr algn="ctr" fontAlgn="t"/>
                      <a:r>
                        <a:rPr lang="en-US" sz="1100" b="0" i="0" u="none" strike="noStrike" dirty="0">
                          <a:solidFill>
                            <a:srgbClr val="00373D"/>
                          </a:solidFill>
                          <a:effectLst/>
                          <a:latin typeface="Century Gothic" panose="020B0502020202020204" pitchFamily="34" charset="0"/>
                        </a:rPr>
                        <a:t>Limousine/Car Service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Function/Event Planning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fr-FR" sz="1100" b="1" i="0" u="none" strike="noStrike" dirty="0">
                          <a:solidFill>
                            <a:srgbClr val="00373D"/>
                          </a:solidFill>
                          <a:effectLst/>
                          <a:latin typeface="Century Gothic" panose="020B0502020202020204" pitchFamily="34" charset="0"/>
                        </a:rPr>
                        <a:t>À </a:t>
                      </a:r>
                      <a:r>
                        <a:rPr lang="fr-FR" sz="1100" b="1" i="0" u="none" strike="noStrike" dirty="0">
                          <a:solidFill>
                            <a:schemeClr val="bg1"/>
                          </a:solidFill>
                          <a:effectLst/>
                          <a:latin typeface="Century Gothic" panose="020B0502020202020204" pitchFamily="34" charset="0"/>
                        </a:rPr>
                        <a:t>LA CARTE* HOUSEKEEPING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73C"/>
                    </a:solidFill>
                  </a:tcPr>
                </a:tc>
                <a:tc>
                  <a:txBody>
                    <a:bodyPr/>
                    <a:lstStyle/>
                    <a:p>
                      <a:pPr algn="ctr" fontAlgn="t"/>
                      <a:r>
                        <a:rPr lang="en-US" sz="1100" b="0" i="0" u="none" strike="noStrike" dirty="0">
                          <a:solidFill>
                            <a:srgbClr val="00373D"/>
                          </a:solidFill>
                          <a:effectLst/>
                          <a:latin typeface="Century Gothic" panose="020B0502020202020204" pitchFamily="34" charset="0"/>
                        </a:rPr>
                        <a:t>Kids Room</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9"/>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Trash Removal</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In-Residence Dining/Catering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Vacuum &amp; Mop Floors</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Hotel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Mail Packing &amp; Shipping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Clean Mirrors</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Reserving Golf Tee Times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Personal Chef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Dust Interior</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Restaurant Information/Reservations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Plant Care Maintenance</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smtClean="0">
                          <a:solidFill>
                            <a:srgbClr val="00373D"/>
                          </a:solidFill>
                          <a:effectLst/>
                          <a:latin typeface="Century Gothic" panose="020B0502020202020204" pitchFamily="34" charset="0"/>
                        </a:rPr>
                        <a:t>Oven/Cook Top Cleaning</a:t>
                      </a:r>
                      <a:endParaRPr lang="en-US" sz="1100" b="0" i="0" u="none" strike="noStrike" dirty="0">
                        <a:solidFill>
                          <a:srgbClr val="00373D"/>
                        </a:solidFill>
                        <a:effectLst/>
                        <a:latin typeface="Century Gothic" panose="020B0502020202020204" pitchFamily="34"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Tour Information &amp;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Personal Trainer</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fontAlgn="t"/>
                      <a:r>
                        <a:rPr lang="en-US" sz="1100" b="0" i="0" u="none" strike="noStrike" dirty="0">
                          <a:solidFill>
                            <a:srgbClr val="00373D"/>
                          </a:solidFill>
                          <a:effectLst/>
                          <a:latin typeface="Century Gothic" panose="020B0502020202020204" pitchFamily="34" charset="0"/>
                        </a:rPr>
                        <a:t>Strip Beds &amp; Change Sheets</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Spa &amp; Salon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In-home Spa Treatments/Services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100" b="0" i="0" u="none" strike="noStrike" dirty="0" smtClean="0">
                          <a:solidFill>
                            <a:srgbClr val="00373D"/>
                          </a:solidFill>
                          <a:effectLst/>
                          <a:latin typeface="Century Gothic" panose="020B0502020202020204" pitchFamily="34" charset="0"/>
                        </a:rPr>
                        <a:t>Refrigerator Cleaning</a:t>
                      </a:r>
                      <a:endParaRPr lang="en-US" sz="1100" b="0" i="0" u="none" strike="noStrike" dirty="0">
                        <a:solidFill>
                          <a:srgbClr val="00373D"/>
                        </a:solidFill>
                        <a:effectLst/>
                        <a:latin typeface="Century Gothic" panose="020B0502020202020204" pitchFamily="34"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Services Information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Translation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smtClean="0">
                          <a:solidFill>
                            <a:srgbClr val="00373D"/>
                          </a:solidFill>
                          <a:effectLst/>
                          <a:latin typeface="Century Gothic" panose="020B0502020202020204" pitchFamily="34" charset="0"/>
                        </a:rPr>
                        <a:t>Clean Bathrooms</a:t>
                      </a:r>
                      <a:endParaRPr lang="en-US" sz="1100" b="0" i="0" u="none" strike="noStrike" dirty="0">
                        <a:solidFill>
                          <a:srgbClr val="00373D"/>
                        </a:solidFill>
                        <a:effectLst/>
                        <a:latin typeface="Century Gothic" panose="020B0502020202020204" pitchFamily="34"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Move-in Coordination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Nanny/Child Care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smtClean="0">
                          <a:solidFill>
                            <a:srgbClr val="00373D"/>
                          </a:solidFill>
                          <a:effectLst/>
                          <a:latin typeface="Century Gothic" panose="020B0502020202020204" pitchFamily="34" charset="0"/>
                        </a:rPr>
                        <a:t>Wash Dishes</a:t>
                      </a:r>
                      <a:endParaRPr lang="en-US" sz="1100" b="0" i="0" u="none" strike="noStrike" dirty="0">
                        <a:solidFill>
                          <a:srgbClr val="00373D"/>
                        </a:solidFill>
                        <a:effectLst/>
                        <a:latin typeface="Century Gothic" panose="020B0502020202020204" pitchFamily="34"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Notary Public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Pet Grooming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1100" b="0" i="0" u="none" strike="noStrike" dirty="0" smtClean="0">
                          <a:solidFill>
                            <a:srgbClr val="00373D"/>
                          </a:solidFill>
                          <a:effectLst/>
                          <a:latin typeface="Century Gothic" panose="020B0502020202020204" pitchFamily="34" charset="0"/>
                        </a:rPr>
                        <a:t>Clean Balcony</a:t>
                      </a:r>
                      <a:endParaRPr lang="en-US" sz="1100" b="0" i="0" u="none" strike="noStrike" dirty="0">
                        <a:solidFill>
                          <a:srgbClr val="00373D"/>
                        </a:solidFill>
                        <a:effectLst/>
                        <a:latin typeface="Century Gothic" panose="020B0502020202020204" pitchFamily="34" charset="0"/>
                      </a:endParaRP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9004">
                <a:tc>
                  <a:txBody>
                    <a:bodyPr/>
                    <a:lstStyle/>
                    <a:p>
                      <a:pPr algn="ctr" fontAlgn="t"/>
                      <a:r>
                        <a:rPr lang="en-US" sz="1100" b="0" i="0" u="none" strike="noStrike" dirty="0">
                          <a:solidFill>
                            <a:srgbClr val="00373D"/>
                          </a:solidFill>
                          <a:effectLst/>
                          <a:latin typeface="Century Gothic" panose="020B0502020202020204" pitchFamily="34" charset="0"/>
                        </a:rPr>
                        <a:t>Pet Care/Kennel Information &amp; Reservations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sz="1100" b="0" i="0" u="none" strike="noStrike" dirty="0">
                          <a:solidFill>
                            <a:srgbClr val="00373D"/>
                          </a:solidFill>
                          <a:effectLst/>
                          <a:latin typeface="Century Gothic" panose="020B0502020202020204" pitchFamily="34" charset="0"/>
                        </a:rPr>
                        <a:t>Vacant Home Care</a:t>
                      </a:r>
                    </a:p>
                  </a:txBody>
                  <a:tcPr marL="3175" marR="3175" marT="3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Loss Prevention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a:solidFill>
                          <a:srgbClr val="000000"/>
                        </a:solidFill>
                        <a:effectLst/>
                        <a:latin typeface="Century Gothic" panose="020B0502020202020204" pitchFamily="34" charset="0"/>
                      </a:endParaRPr>
                    </a:p>
                  </a:txBody>
                  <a:tcPr marL="3175" marR="3175" marT="3175"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w="12700" cap="flat" cmpd="sng" algn="ctr">
                      <a:no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20"/>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Theatre &amp; Entertainment Information</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a:solidFill>
                          <a:srgbClr val="000000"/>
                        </a:solidFill>
                        <a:effectLst/>
                        <a:latin typeface="Century Gothic" panose="020B0502020202020204" pitchFamily="34"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1"/>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Doorman/Porter Services</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2"/>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Common Area Housekeeping</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3"/>
                  </a:ext>
                </a:extLst>
              </a:tr>
              <a:tr h="221847">
                <a:tc>
                  <a:txBody>
                    <a:bodyPr/>
                    <a:lstStyle/>
                    <a:p>
                      <a:pPr algn="ctr" fontAlgn="t"/>
                      <a:r>
                        <a:rPr lang="en-US" sz="1100" b="0" i="0" u="none" strike="noStrike" dirty="0">
                          <a:solidFill>
                            <a:srgbClr val="00373D"/>
                          </a:solidFill>
                          <a:effectLst/>
                          <a:latin typeface="Century Gothic" panose="020B0502020202020204" pitchFamily="34" charset="0"/>
                        </a:rPr>
                        <a:t>Common Area Maintenance</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a:solidFill>
                          <a:srgbClr val="000000"/>
                        </a:solidFill>
                        <a:effectLst/>
                        <a:latin typeface="Century Gothic" panose="020B0502020202020204" pitchFamily="34"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4"/>
                  </a:ext>
                </a:extLst>
              </a:tr>
              <a:tr h="229004">
                <a:tc>
                  <a:txBody>
                    <a:bodyPr/>
                    <a:lstStyle/>
                    <a:p>
                      <a:pPr algn="ctr" fontAlgn="t"/>
                      <a:r>
                        <a:rPr lang="en-US" sz="1100" b="0" i="0" u="none" strike="noStrike" dirty="0">
                          <a:solidFill>
                            <a:srgbClr val="00373D"/>
                          </a:solidFill>
                          <a:effectLst/>
                          <a:latin typeface="Century Gothic" panose="020B0502020202020204" pitchFamily="34" charset="0"/>
                        </a:rPr>
                        <a:t>Newspaper/Magazine/Package Delivery</a:t>
                      </a:r>
                    </a:p>
                  </a:txBody>
                  <a:tcPr marL="3175" marR="3175" marT="317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100" b="0" i="0" u="none" strike="noStrike">
                        <a:solidFill>
                          <a:srgbClr val="000000"/>
                        </a:solidFill>
                        <a:effectLst/>
                        <a:latin typeface="Century Gothic" panose="020B0502020202020204" pitchFamily="34" charset="0"/>
                      </a:endParaRPr>
                    </a:p>
                  </a:txBody>
                  <a:tcPr marL="3175" marR="3175" marT="317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entury Gothic" panose="020B0502020202020204" pitchFamily="34" charset="0"/>
                      </a:endParaRPr>
                    </a:p>
                  </a:txBody>
                  <a:tcPr marL="3175" marR="3175" marT="3175"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25"/>
                  </a:ext>
                </a:extLst>
              </a:tr>
            </a:tbl>
          </a:graphicData>
        </a:graphic>
      </p:graphicFrame>
      <p:sp>
        <p:nvSpPr>
          <p:cNvPr id="6" name="object 8"/>
          <p:cNvSpPr txBox="1"/>
          <p:nvPr/>
        </p:nvSpPr>
        <p:spPr>
          <a:xfrm>
            <a:off x="3431704" y="152636"/>
            <a:ext cx="5328592" cy="397544"/>
          </a:xfrm>
          <a:prstGeom prst="rect">
            <a:avLst/>
          </a:prstGeom>
        </p:spPr>
        <p:txBody>
          <a:bodyPr vert="horz" wrap="square" lIns="0" tIns="12699" rIns="0" bIns="0" rtlCol="0">
            <a:spAutoFit/>
          </a:bodyPr>
          <a:lstStyle/>
          <a:p>
            <a:pPr marL="12700" algn="ctr" defTabSz="914355">
              <a:spcBef>
                <a:spcPts val="100"/>
              </a:spcBef>
            </a:pPr>
            <a:r>
              <a:rPr lang="en-US" sz="2500" b="1" spc="-85" dirty="0">
                <a:solidFill>
                  <a:srgbClr val="00373C"/>
                </a:solidFill>
                <a:latin typeface="Century Gothic" panose="020B0502020202020204" pitchFamily="34" charset="0"/>
                <a:cs typeface="Arial"/>
              </a:rPr>
              <a:t>WHAT IS THE DIFFERENCE?</a:t>
            </a:r>
            <a:endParaRPr sz="2500" b="1" dirty="0">
              <a:solidFill>
                <a:srgbClr val="00373C"/>
              </a:solidFill>
              <a:latin typeface="Century Gothic" panose="020B0502020202020204" pitchFamily="34" charset="0"/>
              <a:cs typeface="Arial"/>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575" y="-16532"/>
            <a:ext cx="1872424" cy="814098"/>
          </a:xfrm>
          <a:prstGeom prst="rect">
            <a:avLst/>
          </a:prstGeom>
        </p:spPr>
      </p:pic>
      <p:sp>
        <p:nvSpPr>
          <p:cNvPr id="27" name="Rectangle 26"/>
          <p:cNvSpPr/>
          <p:nvPr/>
        </p:nvSpPr>
        <p:spPr>
          <a:xfrm>
            <a:off x="3457597" y="5841268"/>
            <a:ext cx="5832648" cy="584775"/>
          </a:xfrm>
          <a:prstGeom prst="rect">
            <a:avLst/>
          </a:prstGeom>
        </p:spPr>
        <p:txBody>
          <a:bodyPr wrap="square">
            <a:spAutoFit/>
          </a:bodyPr>
          <a:lstStyle/>
          <a:p>
            <a:r>
              <a:rPr lang="en-US" sz="1600" b="1" dirty="0">
                <a:solidFill>
                  <a:schemeClr val="bg1"/>
                </a:solidFill>
                <a:latin typeface="Century Gothic" panose="020B0502020202020204" pitchFamily="34" charset="0"/>
              </a:rPr>
              <a:t>EVERYONE IS UNIQUE, AND EACH EXPERIENCE IS DIFFERENT </a:t>
            </a:r>
          </a:p>
        </p:txBody>
      </p:sp>
      <p:sp>
        <p:nvSpPr>
          <p:cNvPr id="9" name="Rectangle 8"/>
          <p:cNvSpPr/>
          <p:nvPr/>
        </p:nvSpPr>
        <p:spPr>
          <a:xfrm>
            <a:off x="3493601" y="6167659"/>
            <a:ext cx="8363039" cy="646331"/>
          </a:xfrm>
          <a:prstGeom prst="rect">
            <a:avLst/>
          </a:prstGeom>
          <a:noFill/>
        </p:spPr>
        <p:txBody>
          <a:bodyPr wrap="square">
            <a:spAutoFit/>
          </a:bodyPr>
          <a:lstStyle/>
          <a:p>
            <a:pPr algn="just"/>
            <a:r>
              <a:rPr lang="en-US" sz="1200" dirty="0">
                <a:solidFill>
                  <a:schemeClr val="bg1"/>
                </a:solidFill>
                <a:latin typeface="Century Gothic" panose="020B0502020202020204" pitchFamily="34" charset="0"/>
              </a:rPr>
              <a:t>In Grand Marina Saigon every tower has its own personality and this is also the case of some services and amenities. Our bespoke services </a:t>
            </a:r>
            <a:r>
              <a:rPr lang="en-US" sz="1200" dirty="0">
                <a:solidFill>
                  <a:schemeClr val="bg1"/>
                </a:solidFill>
                <a:latin typeface="Century Gothic" panose="020B0502020202020204" pitchFamily="34" charset="0"/>
                <a:ea typeface="Open Sans" panose="020B0606030504020204" pitchFamily="34" charset="0"/>
                <a:cs typeface="Open Sans" panose="020B0606030504020204" pitchFamily="34" charset="0"/>
              </a:rPr>
              <a:t>are tailored for the unique needs and expectations of our high-end profiles of each segment and ensure to amaze the residents throughout their experience.</a:t>
            </a:r>
          </a:p>
        </p:txBody>
      </p:sp>
      <p:sp>
        <p:nvSpPr>
          <p:cNvPr id="40" name="Rectangle 39"/>
          <p:cNvSpPr/>
          <p:nvPr/>
        </p:nvSpPr>
        <p:spPr>
          <a:xfrm>
            <a:off x="3467708" y="5495042"/>
            <a:ext cx="2550188" cy="346227"/>
          </a:xfrm>
          <a:prstGeom prst="rect">
            <a:avLst/>
          </a:prstGeom>
          <a:solidFill>
            <a:schemeClr val="accent6">
              <a:lumMod val="75000"/>
            </a:schemeClr>
          </a:solidFill>
          <a:ln>
            <a:solidFill>
              <a:srgbClr val="0037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0373C"/>
                </a:solidFill>
                <a:latin typeface="Century Gothic" panose="020B0502020202020204" pitchFamily="34" charset="0"/>
              </a:rPr>
              <a:t>**Note: Different services for different brands</a:t>
            </a:r>
          </a:p>
        </p:txBody>
      </p:sp>
      <p:sp>
        <p:nvSpPr>
          <p:cNvPr id="44" name="Rectangle 43"/>
          <p:cNvSpPr/>
          <p:nvPr/>
        </p:nvSpPr>
        <p:spPr>
          <a:xfrm>
            <a:off x="6096000" y="5495042"/>
            <a:ext cx="2772308" cy="346227"/>
          </a:xfrm>
          <a:prstGeom prst="rect">
            <a:avLst/>
          </a:prstGeom>
          <a:solidFill>
            <a:schemeClr val="bg1"/>
          </a:solidFill>
          <a:ln>
            <a:solidFill>
              <a:srgbClr val="0037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rgbClr val="00373C"/>
                </a:solidFill>
                <a:latin typeface="Century Gothic" panose="020B0502020202020204" pitchFamily="34" charset="0"/>
              </a:rPr>
              <a:t>**Note: Consistent services for different brands </a:t>
            </a:r>
          </a:p>
        </p:txBody>
      </p:sp>
    </p:spTree>
    <p:extLst>
      <p:ext uri="{BB962C8B-B14F-4D97-AF65-F5344CB8AC3E}">
        <p14:creationId xmlns:p14="http://schemas.microsoft.com/office/powerpoint/2010/main" val="41357767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67109" cy="6872057"/>
          </a:xfrm>
          <a:prstGeom prst="rect">
            <a:avLst/>
          </a:prstGeom>
        </p:spPr>
      </p:pic>
    </p:spTree>
    <p:extLst>
      <p:ext uri="{BB962C8B-B14F-4D97-AF65-F5344CB8AC3E}">
        <p14:creationId xmlns:p14="http://schemas.microsoft.com/office/powerpoint/2010/main" val="1533977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825</Words>
  <Application>Microsoft Office PowerPoint</Application>
  <PresentationFormat>Widescreen</PresentationFormat>
  <Paragraphs>163</Paragraphs>
  <Slides>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Baskerville</vt:lpstr>
      <vt:lpstr>Calibri</vt:lpstr>
      <vt:lpstr>Calibri Light</vt:lpstr>
      <vt:lpstr>Century Gothic</vt:lpstr>
      <vt:lpstr>Open Sans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Phạm Nguyên Hoàng</dc:creator>
  <cp:lastModifiedBy>Phạm Nguyên Hoàng | Sales</cp:lastModifiedBy>
  <cp:revision>3</cp:revision>
  <dcterms:created xsi:type="dcterms:W3CDTF">2023-02-25T06:54:38Z</dcterms:created>
  <dcterms:modified xsi:type="dcterms:W3CDTF">2024-04-24T09:24:15Z</dcterms:modified>
</cp:coreProperties>
</file>